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6263640"/>
            <a:ext cx="2046914" cy="594360"/>
          </a:xfrm>
          <a:prstGeom prst="rect">
            <a:avLst/>
          </a:prstGeom>
          <a:solidFill>
            <a:srgbClr val="1E8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Massogona </a:t>
            </a:r>
            <a:r>
              <a:rPr lang="en-US" dirty="0"/>
              <a:t>Cisse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ECG Clustering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K-means, NbClust gap statistic, and hierarchical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E7EB"/>
                </a:solidFill>
              </a:defRPr>
            </a:pPr>
            <a:r>
              <a:rPr dirty="0"/>
              <a:t>MIT-BIH Arrhythmia Database • AAMI class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0E304E"/>
                </a:solidFill>
              </a:defRPr>
            </a:pPr>
            <a:r>
              <a:rPr dirty="0"/>
              <a:t>Motivation and 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42424"/>
                </a:solidFill>
              </a:defRPr>
            </a:pPr>
            <a:r>
              <a:rPr dirty="0"/>
              <a:t>ECG signals help monitor heart activity and detect arrhythmias.</a:t>
            </a:r>
          </a:p>
          <a:p>
            <a:pPr>
              <a:spcAft>
                <a:spcPts val="800"/>
              </a:spcAft>
              <a:defRPr sz="2200">
                <a:solidFill>
                  <a:srgbClr val="242424"/>
                </a:solidFill>
              </a:defRPr>
            </a:pPr>
            <a:r>
              <a:rPr dirty="0"/>
              <a:t>Manual ECG review can be difficult when there are many heartbeat signals.</a:t>
            </a:r>
          </a:p>
          <a:p>
            <a:pPr>
              <a:spcAft>
                <a:spcPts val="800"/>
              </a:spcAft>
              <a:defRPr sz="2200">
                <a:solidFill>
                  <a:srgbClr val="242424"/>
                </a:solidFill>
              </a:defRPr>
            </a:pPr>
            <a:r>
              <a:rPr dirty="0"/>
              <a:t>Clustering can group similar ECG waveform shapes without using labels.</a:t>
            </a:r>
          </a:p>
          <a:p>
            <a:pPr>
              <a:spcAft>
                <a:spcPts val="800"/>
              </a:spcAft>
              <a:defRPr sz="2200">
                <a:solidFill>
                  <a:srgbClr val="242424"/>
                </a:solidFill>
              </a:defRPr>
            </a:pPr>
            <a:r>
              <a:rPr dirty="0"/>
              <a:t>Goal: compare the clusters with AAMI heartbeat classes.</a:t>
            </a:r>
          </a:p>
        </p:txBody>
      </p:sp>
      <p:pic>
        <p:nvPicPr>
          <p:cNvPr id="5" name="Picture 4" descr="cluster_centers_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0E304E"/>
                </a:solidFill>
              </a:defRPr>
            </a:pPr>
            <a:r>
              <a:t>Data and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926080" cy="731520"/>
          </a:xfrm>
          <a:prstGeom prst="roundRect">
            <a:avLst/>
          </a:prstGeom>
          <a:solidFill>
            <a:srgbClr val="F4F8FA"/>
          </a:solidFill>
          <a:ln w="15875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defRPr sz="1800">
                <a:solidFill>
                  <a:srgbClr val="242424"/>
                </a:solidFill>
              </a:defRPr>
            </a:pPr>
            <a:r>
              <a:t>1000 ECG observations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325880"/>
            <a:ext cx="2926080" cy="731520"/>
          </a:xfrm>
          <a:prstGeom prst="roundRect">
            <a:avLst/>
          </a:prstGeom>
          <a:solidFill>
            <a:srgbClr val="F4F8FA"/>
          </a:solidFill>
          <a:ln w="15875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defRPr sz="1800">
                <a:solidFill>
                  <a:srgbClr val="242424"/>
                </a:solidFill>
              </a:defRPr>
            </a:pPr>
            <a:r>
              <a:t>150 waveform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1325880"/>
            <a:ext cx="2926080" cy="731520"/>
          </a:xfrm>
          <a:prstGeom prst="roundRect">
            <a:avLst/>
          </a:prstGeom>
          <a:solidFill>
            <a:srgbClr val="F4F8FA"/>
          </a:solidFill>
          <a:ln w="15875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defRPr sz="1800">
                <a:solidFill>
                  <a:srgbClr val="242424"/>
                </a:solidFill>
              </a:defRPr>
            </a:pPr>
            <a:r>
              <a:t>5 AAMI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241280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42424"/>
                </a:solidFill>
              </a:defRPr>
            </a:pPr>
            <a:r>
              <a:rPr dirty="0"/>
              <a:t>Each row represents one heartbeat.</a:t>
            </a:r>
          </a:p>
          <a:p>
            <a:pPr>
              <a:spcAft>
                <a:spcPts val="800"/>
              </a:spcAft>
              <a:defRPr sz="2100">
                <a:solidFill>
                  <a:srgbClr val="242424"/>
                </a:solidFill>
              </a:defRPr>
            </a:pPr>
            <a:r>
              <a:rPr dirty="0"/>
              <a:t>Columns X1–X150 represent ECG waveform values across time.</a:t>
            </a:r>
          </a:p>
          <a:p>
            <a:pPr>
              <a:spcAft>
                <a:spcPts val="800"/>
              </a:spcAft>
              <a:defRPr sz="2100">
                <a:solidFill>
                  <a:srgbClr val="242424"/>
                </a:solidFill>
              </a:defRPr>
            </a:pPr>
            <a:r>
              <a:rPr dirty="0"/>
              <a:t>Annotations were recoded into AAMI classes: N, S, V, F, and Q.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5621" cy="55399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0E304E"/>
                </a:solidFill>
              </a:defRPr>
            </a:pPr>
            <a:r>
              <a:rPr lang="en-US" dirty="0"/>
              <a:t>Clustering Methods 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3900881" cy="4001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000" b="1">
                <a:solidFill>
                  <a:srgbClr val="0E304E"/>
                </a:solidFill>
              </a:defRPr>
            </a:pPr>
            <a:r>
              <a:rPr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FB8095-DB28-61B7-DDE5-B91572915299}"/>
              </a:ext>
            </a:extLst>
          </p:cNvPr>
          <p:cNvSpPr txBox="1"/>
          <p:nvPr/>
        </p:nvSpPr>
        <p:spPr>
          <a:xfrm>
            <a:off x="540041" y="1780244"/>
            <a:ext cx="855047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K-means clustering was used as the main method.</a:t>
            </a:r>
          </a:p>
          <a:p>
            <a:pPr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NbClust with the gap statistic selected K = 2.</a:t>
            </a:r>
          </a:p>
          <a:p>
            <a:pPr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K-means clustering was also performed with K = 5.</a:t>
            </a:r>
          </a:p>
          <a:p>
            <a:pPr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Hierarchical clustering with complete linkage was implemented.</a:t>
            </a:r>
          </a:p>
          <a:p>
            <a:pPr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Results were compared using confusion matrices and PCA plots.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048912" cy="55399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0E304E"/>
                </a:solidFill>
              </a:defRPr>
            </a:pPr>
            <a:r>
              <a:rPr dirty="0"/>
              <a:t>K-means with K = 2</a:t>
            </a:r>
          </a:p>
        </p:txBody>
      </p:sp>
      <p:pic>
        <p:nvPicPr>
          <p:cNvPr id="4" name="Picture 3" descr="pca_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80644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143000"/>
            <a:ext cx="429768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800" b="1">
                <a:solidFill>
                  <a:srgbClr val="0E304E"/>
                </a:solidFill>
              </a:defRPr>
            </a:pPr>
            <a:r>
              <a:t>Confusion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20840" y="1508760"/>
          <a:ext cx="42519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AAMI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286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533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Q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54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6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20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28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37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20840" y="4160520"/>
            <a:ext cx="4251960" cy="1005840"/>
          </a:xfrm>
          <a:prstGeom prst="roundRect">
            <a:avLst/>
          </a:prstGeom>
          <a:solidFill>
            <a:srgbClr val="F4F8FA"/>
          </a:solidFill>
          <a:ln w="15875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defRPr sz="1700">
                <a:solidFill>
                  <a:srgbClr val="242424"/>
                </a:solidFill>
              </a:defRPr>
            </a:pPr>
            <a:r>
              <a:t>Interpretation: K = 2 separates the data into two broad waveform groups, but several AAMI classes are combined in the same cluster.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829301" cy="55399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0E304E"/>
                </a:solidFill>
              </a:defRPr>
            </a:pPr>
            <a:r>
              <a:rPr dirty="0"/>
              <a:t> K = 5</a:t>
            </a:r>
            <a:r>
              <a:rPr lang="en-US" dirty="0"/>
              <a:t>  with </a:t>
            </a:r>
            <a:r>
              <a:rPr dirty="0"/>
              <a:t>AAMI </a:t>
            </a:r>
          </a:p>
        </p:txBody>
      </p:sp>
      <p:pic>
        <p:nvPicPr>
          <p:cNvPr id="4" name="Picture 3" descr="pca_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7607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1143000"/>
            <a:ext cx="489204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800" b="1">
                <a:solidFill>
                  <a:srgbClr val="0E304E"/>
                </a:solidFill>
              </a:defRPr>
            </a:pPr>
            <a:r>
              <a:t>Confusion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6520" y="1508760"/>
          <a:ext cx="50749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AAMI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196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317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30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275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Q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23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48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20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46520" y="4407408"/>
            <a:ext cx="5074920" cy="914400"/>
          </a:xfrm>
          <a:prstGeom prst="roundRect">
            <a:avLst/>
          </a:prstGeom>
          <a:solidFill>
            <a:srgbClr val="F4F8FA"/>
          </a:solidFill>
          <a:ln w="15875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defRPr sz="1600">
                <a:solidFill>
                  <a:srgbClr val="242424"/>
                </a:solidFill>
              </a:defRPr>
            </a:pPr>
            <a:r>
              <a:t>Interpretation: K = 5 gives more detailed clusters. Fusion is grouped clearly, but Normal, Ventricular, and Unknown are spread across clusters.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738716" cy="55399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0E304E"/>
                </a:solidFill>
              </a:defRPr>
            </a:pPr>
            <a:r>
              <a:rPr dirty="0"/>
              <a:t>Hierarchical Clustering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143000"/>
            <a:ext cx="4892040" cy="29260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800" b="1">
                <a:solidFill>
                  <a:srgbClr val="0E304E"/>
                </a:solidFill>
              </a:defRPr>
            </a:pPr>
            <a:r>
              <a:t>Confusion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6520" y="1508760"/>
          <a:ext cx="50749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AAMI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775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43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Q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51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26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V</a:t>
                      </a:r>
                    </a:p>
                  </a:txBody>
                  <a:tcPr marL="36576" marR="36576" marT="18288" marB="18288">
                    <a:solidFill>
                      <a:srgbClr val="0E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42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42424"/>
                          </a:solidFill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46520" y="4407408"/>
            <a:ext cx="5074920" cy="914400"/>
          </a:xfrm>
          <a:prstGeom prst="roundRect">
            <a:avLst/>
          </a:prstGeom>
          <a:solidFill>
            <a:srgbClr val="F4F8FA"/>
          </a:solidFill>
          <a:ln w="15875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bIns="91440" rtlCol="0" anchor="ctr"/>
          <a:lstStyle/>
          <a:p>
            <a:pPr algn="ctr">
              <a:defRPr sz="1600">
                <a:solidFill>
                  <a:srgbClr val="242424"/>
                </a:solidFill>
              </a:defRPr>
            </a:pPr>
            <a:r>
              <a:t>Why HC? It gives a second clustering method and a dendrogram. Result: one large cluster contains many classes, so separation is weaker.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93E02-4180-C369-4820-C5DE9E16A878}"/>
              </a:ext>
            </a:extLst>
          </p:cNvPr>
          <p:cNvSpPr txBox="1"/>
          <p:nvPr/>
        </p:nvSpPr>
        <p:spPr>
          <a:xfrm>
            <a:off x="3026329" y="3233847"/>
            <a:ext cx="6136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7E79C5-BB2E-4556-A7D7-9211E73B2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71" y="1382481"/>
            <a:ext cx="5838133" cy="36100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0E304E"/>
                </a:solidFill>
              </a:defRPr>
            </a:pPr>
            <a:r>
              <a:t>Cluster Centers: Average ECG Shapes</a:t>
            </a:r>
          </a:p>
        </p:txBody>
      </p:sp>
      <p:pic>
        <p:nvPicPr>
          <p:cNvPr id="4" name="Picture 3" descr="cluster_centers_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446520" cy="4069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32588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42424"/>
                </a:solidFill>
              </a:defRPr>
            </a:pPr>
            <a:r>
              <a:t>Each line is the average waveform for one K-means cluster.</a:t>
            </a:r>
          </a:p>
          <a:p>
            <a:pPr>
              <a:spcAft>
                <a:spcPts val="800"/>
              </a:spcAft>
              <a:defRPr sz="2000">
                <a:solidFill>
                  <a:srgbClr val="242424"/>
                </a:solidFill>
              </a:defRPr>
            </a:pPr>
            <a:r>
              <a:t>This plot helps show how clusters differ in ECG shape.</a:t>
            </a:r>
          </a:p>
          <a:p>
            <a:pPr>
              <a:spcAft>
                <a:spcPts val="800"/>
              </a:spcAft>
              <a:defRPr sz="2000">
                <a:solidFill>
                  <a:srgbClr val="242424"/>
                </a:solidFill>
              </a:defRPr>
            </a:pPr>
            <a:r>
              <a:t>It supports the interpretation that K = 5 provides more detailed waveform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0E304E"/>
                </a:solidFill>
              </a:defRPr>
            </a:pPr>
            <a:r>
              <a:rPr dirty="0"/>
              <a:t>Comparison of Clustering 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A644C-D8A0-395C-40FF-0AACDFF19735}"/>
              </a:ext>
            </a:extLst>
          </p:cNvPr>
          <p:cNvSpPr txBox="1"/>
          <p:nvPr/>
        </p:nvSpPr>
        <p:spPr>
          <a:xfrm>
            <a:off x="654341" y="1679576"/>
            <a:ext cx="85085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K = 2 captured broad waveform patterns.</a:t>
            </a:r>
          </a:p>
          <a:p>
            <a:pPr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K = 5 produced more detailed grouping patterns.</a:t>
            </a:r>
          </a:p>
          <a:p>
            <a:pPr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K-means with K = 5 gave the most meaningful results.</a:t>
            </a:r>
          </a:p>
          <a:p>
            <a:pPr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Hierarchical clustering showed weaker separation</a:t>
            </a:r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E84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3000" b="1">
                <a:solidFill>
                  <a:srgbClr val="0E304E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78992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Clustering identified general ECG waveform patterns.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 The heartbeat classes were not perfectly separated.</a:t>
            </a:r>
          </a:p>
          <a:p>
            <a:pPr>
              <a:defRPr sz="2000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 K-means with K = 5 produced the best overall results.</a:t>
            </a:r>
          </a:p>
          <a:p>
            <a:pPr>
              <a:spcAft>
                <a:spcPts val="800"/>
              </a:spcAft>
              <a:defRPr sz="2300">
                <a:solidFill>
                  <a:srgbClr val="242424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463</Words>
  <Application>Microsoft Office PowerPoint</Application>
  <PresentationFormat>Widescreen</PresentationFormat>
  <Paragraphs>144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Massogona Cisse</cp:lastModifiedBy>
  <cp:revision>3</cp:revision>
  <dcterms:created xsi:type="dcterms:W3CDTF">2013-01-27T09:14:16Z</dcterms:created>
  <dcterms:modified xsi:type="dcterms:W3CDTF">2026-05-07T15:20:46Z</dcterms:modified>
  <cp:category/>
</cp:coreProperties>
</file>